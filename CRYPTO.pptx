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sldIdLst>
    <p:sldId id="530" r:id="rId5"/>
    <p:sldId id="531" r:id="rId6"/>
    <p:sldId id="533" r:id="rId7"/>
    <p:sldId id="566" r:id="rId8"/>
    <p:sldId id="534" r:id="rId9"/>
    <p:sldId id="535" r:id="rId10"/>
    <p:sldId id="536" r:id="rId11"/>
    <p:sldId id="567" r:id="rId12"/>
    <p:sldId id="548" r:id="rId13"/>
    <p:sldId id="552" r:id="rId14"/>
    <p:sldId id="558" r:id="rId15"/>
    <p:sldId id="547" r:id="rId16"/>
    <p:sldId id="553" r:id="rId17"/>
    <p:sldId id="554" r:id="rId18"/>
    <p:sldId id="559" r:id="rId19"/>
    <p:sldId id="550" r:id="rId20"/>
    <p:sldId id="555" r:id="rId21"/>
    <p:sldId id="556" r:id="rId22"/>
    <p:sldId id="560" r:id="rId23"/>
    <p:sldId id="551" r:id="rId24"/>
    <p:sldId id="563" r:id="rId25"/>
    <p:sldId id="557" r:id="rId26"/>
    <p:sldId id="562" r:id="rId27"/>
    <p:sldId id="561" r:id="rId28"/>
    <p:sldId id="564" r:id="rId29"/>
    <p:sldId id="54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4C73"/>
    <a:srgbClr val="271DEF"/>
    <a:srgbClr val="2F21F3"/>
    <a:srgbClr val="0E4668"/>
    <a:srgbClr val="8822EE"/>
    <a:srgbClr val="F01688"/>
    <a:srgbClr val="FEB52B"/>
    <a:srgbClr val="F01689"/>
    <a:srgbClr val="6F22E3"/>
    <a:srgbClr val="E218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37E4E4-A97A-4704-A6C2-45D38C6003AD}" v="68" dt="2026-02-02T14:30:31.9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22"/>
  </p:normalViewPr>
  <p:slideViewPr>
    <p:cSldViewPr snapToGrid="0">
      <p:cViewPr varScale="1">
        <p:scale>
          <a:sx n="48" d="100"/>
          <a:sy n="48" d="100"/>
        </p:scale>
        <p:origin x="67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tturu Jaganmohanreddy" userId="02001174c0b35c01" providerId="LiveId" clId="{C8E0087E-1F7E-4FB4-895F-C04A2D399884}"/>
    <pc:docChg chg="undo redo custSel addSld delSld modSld sldOrd">
      <pc:chgData name="Atturu Jaganmohanreddy" userId="02001174c0b35c01" providerId="LiveId" clId="{C8E0087E-1F7E-4FB4-895F-C04A2D399884}" dt="2026-02-02T14:31:07.965" v="6018" actId="20577"/>
      <pc:docMkLst>
        <pc:docMk/>
      </pc:docMkLst>
      <pc:sldChg chg="modSp mod">
        <pc:chgData name="Atturu Jaganmohanreddy" userId="02001174c0b35c01" providerId="LiveId" clId="{C8E0087E-1F7E-4FB4-895F-C04A2D399884}" dt="2026-01-12T15:09:16.942" v="5442" actId="14100"/>
        <pc:sldMkLst>
          <pc:docMk/>
          <pc:sldMk cId="1723491119" sldId="530"/>
        </pc:sldMkLst>
        <pc:spChg chg="mod">
          <ac:chgData name="Atturu Jaganmohanreddy" userId="02001174c0b35c01" providerId="LiveId" clId="{C8E0087E-1F7E-4FB4-895F-C04A2D399884}" dt="2026-01-12T15:09:16.942" v="5442" actId="14100"/>
          <ac:spMkLst>
            <pc:docMk/>
            <pc:sldMk cId="1723491119" sldId="530"/>
            <ac:spMk id="2" creationId="{DC870DB4-0446-EF22-E8E0-3A5B83923AC0}"/>
          </ac:spMkLst>
        </pc:spChg>
      </pc:sldChg>
      <pc:sldChg chg="modSp mod">
        <pc:chgData name="Atturu Jaganmohanreddy" userId="02001174c0b35c01" providerId="LiveId" clId="{C8E0087E-1F7E-4FB4-895F-C04A2D399884}" dt="2026-01-12T15:04:38.884" v="5428" actId="1076"/>
        <pc:sldMkLst>
          <pc:docMk/>
          <pc:sldMk cId="3548027083" sldId="531"/>
        </pc:sldMkLst>
        <pc:spChg chg="mod">
          <ac:chgData name="Atturu Jaganmohanreddy" userId="02001174c0b35c01" providerId="LiveId" clId="{C8E0087E-1F7E-4FB4-895F-C04A2D399884}" dt="2026-01-12T15:04:38.884" v="5428" actId="1076"/>
          <ac:spMkLst>
            <pc:docMk/>
            <pc:sldMk cId="3548027083" sldId="531"/>
            <ac:spMk id="2" creationId="{C07F7E09-6A9E-9FCC-7867-895F21ABE716}"/>
          </ac:spMkLst>
        </pc:spChg>
        <pc:spChg chg="mod">
          <ac:chgData name="Atturu Jaganmohanreddy" userId="02001174c0b35c01" providerId="LiveId" clId="{C8E0087E-1F7E-4FB4-895F-C04A2D399884}" dt="2026-01-12T15:04:35.755" v="5427" actId="1076"/>
          <ac:spMkLst>
            <pc:docMk/>
            <pc:sldMk cId="3548027083" sldId="531"/>
            <ac:spMk id="3" creationId="{199158D4-7B61-0A48-E33F-792278D05724}"/>
          </ac:spMkLst>
        </pc:spChg>
      </pc:sldChg>
      <pc:sldChg chg="modSp mod ord">
        <pc:chgData name="Atturu Jaganmohanreddy" userId="02001174c0b35c01" providerId="LiveId" clId="{C8E0087E-1F7E-4FB4-895F-C04A2D399884}" dt="2026-01-10T14:55:19.352" v="5158"/>
        <pc:sldMkLst>
          <pc:docMk/>
          <pc:sldMk cId="3380759881" sldId="533"/>
        </pc:sldMkLst>
        <pc:spChg chg="mod">
          <ac:chgData name="Atturu Jaganmohanreddy" userId="02001174c0b35c01" providerId="LiveId" clId="{C8E0087E-1F7E-4FB4-895F-C04A2D399884}" dt="2026-01-05T14:37:50.285" v="4386" actId="255"/>
          <ac:spMkLst>
            <pc:docMk/>
            <pc:sldMk cId="3380759881" sldId="533"/>
            <ac:spMk id="3" creationId="{5A82A8B0-333F-633E-3FA7-D38DBFB10971}"/>
          </ac:spMkLst>
        </pc:spChg>
      </pc:sldChg>
      <pc:sldChg chg="modSp mod">
        <pc:chgData name="Atturu Jaganmohanreddy" userId="02001174c0b35c01" providerId="LiveId" clId="{C8E0087E-1F7E-4FB4-895F-C04A2D399884}" dt="2026-01-12T15:10:17.149" v="5444" actId="14100"/>
        <pc:sldMkLst>
          <pc:docMk/>
          <pc:sldMk cId="548476299" sldId="534"/>
        </pc:sldMkLst>
        <pc:spChg chg="mod">
          <ac:chgData name="Atturu Jaganmohanreddy" userId="02001174c0b35c01" providerId="LiveId" clId="{C8E0087E-1F7E-4FB4-895F-C04A2D399884}" dt="2026-01-12T15:10:07.612" v="5443" actId="14100"/>
          <ac:spMkLst>
            <pc:docMk/>
            <pc:sldMk cId="548476299" sldId="534"/>
            <ac:spMk id="9" creationId="{72103C64-0458-0525-9D1E-AB4D275B3168}"/>
          </ac:spMkLst>
        </pc:spChg>
        <pc:spChg chg="mod">
          <ac:chgData name="Atturu Jaganmohanreddy" userId="02001174c0b35c01" providerId="LiveId" clId="{C8E0087E-1F7E-4FB4-895F-C04A2D399884}" dt="2026-01-12T15:10:17.149" v="5444" actId="14100"/>
          <ac:spMkLst>
            <pc:docMk/>
            <pc:sldMk cId="548476299" sldId="534"/>
            <ac:spMk id="10" creationId="{70D41F22-75D5-0322-5D3F-616CC49E789F}"/>
          </ac:spMkLst>
        </pc:spChg>
      </pc:sldChg>
      <pc:sldChg chg="addSp delSp modSp mod">
        <pc:chgData name="Atturu Jaganmohanreddy" userId="02001174c0b35c01" providerId="LiveId" clId="{C8E0087E-1F7E-4FB4-895F-C04A2D399884}" dt="2026-01-06T14:25:28.011" v="4656" actId="115"/>
        <pc:sldMkLst>
          <pc:docMk/>
          <pc:sldMk cId="1372651910" sldId="535"/>
        </pc:sldMkLst>
        <pc:spChg chg="mod">
          <ac:chgData name="Atturu Jaganmohanreddy" userId="02001174c0b35c01" providerId="LiveId" clId="{C8E0087E-1F7E-4FB4-895F-C04A2D399884}" dt="2026-01-06T14:25:28.011" v="4656" actId="115"/>
          <ac:spMkLst>
            <pc:docMk/>
            <pc:sldMk cId="1372651910" sldId="535"/>
            <ac:spMk id="19" creationId="{03183665-50C3-9879-0F07-3A8D783EC1B0}"/>
          </ac:spMkLst>
        </pc:spChg>
        <pc:spChg chg="mod">
          <ac:chgData name="Atturu Jaganmohanreddy" userId="02001174c0b35c01" providerId="LiveId" clId="{C8E0087E-1F7E-4FB4-895F-C04A2D399884}" dt="2026-01-06T14:24:28.487" v="4648" actId="1076"/>
          <ac:spMkLst>
            <pc:docMk/>
            <pc:sldMk cId="1372651910" sldId="535"/>
            <ac:spMk id="20" creationId="{8B5DA491-A860-9B58-EA2A-0A9C0CF689D5}"/>
          </ac:spMkLst>
        </pc:spChg>
        <pc:spChg chg="mod">
          <ac:chgData name="Atturu Jaganmohanreddy" userId="02001174c0b35c01" providerId="LiveId" clId="{C8E0087E-1F7E-4FB4-895F-C04A2D399884}" dt="2026-01-06T14:24:36.517" v="4649" actId="1076"/>
          <ac:spMkLst>
            <pc:docMk/>
            <pc:sldMk cId="1372651910" sldId="535"/>
            <ac:spMk id="22" creationId="{2299D8E7-EB16-036A-F1E7-BFFA6CAB401B}"/>
          </ac:spMkLst>
        </pc:spChg>
        <pc:spChg chg="mod">
          <ac:chgData name="Atturu Jaganmohanreddy" userId="02001174c0b35c01" providerId="LiveId" clId="{C8E0087E-1F7E-4FB4-895F-C04A2D399884}" dt="2026-01-06T14:24:40.639" v="4650" actId="1076"/>
          <ac:spMkLst>
            <pc:docMk/>
            <pc:sldMk cId="1372651910" sldId="535"/>
            <ac:spMk id="23" creationId="{235EDAF6-9F22-9F6B-CAE9-39A387FAC8B8}"/>
          </ac:spMkLst>
        </pc:spChg>
        <pc:spChg chg="mod">
          <ac:chgData name="Atturu Jaganmohanreddy" userId="02001174c0b35c01" providerId="LiveId" clId="{C8E0087E-1F7E-4FB4-895F-C04A2D399884}" dt="2026-01-06T14:24:45.907" v="4651" actId="1076"/>
          <ac:spMkLst>
            <pc:docMk/>
            <pc:sldMk cId="1372651910" sldId="535"/>
            <ac:spMk id="24" creationId="{005ACFC6-5A78-ABCB-4619-F0699B5DEC8D}"/>
          </ac:spMkLst>
        </pc:spChg>
      </pc:sldChg>
      <pc:sldChg chg="addSp delSp modSp mod">
        <pc:chgData name="Atturu Jaganmohanreddy" userId="02001174c0b35c01" providerId="LiveId" clId="{C8E0087E-1F7E-4FB4-895F-C04A2D399884}" dt="2026-01-09T15:58:24.866" v="4963" actId="1076"/>
        <pc:sldMkLst>
          <pc:docMk/>
          <pc:sldMk cId="1208724409" sldId="536"/>
        </pc:sldMkLst>
        <pc:spChg chg="mod">
          <ac:chgData name="Atturu Jaganmohanreddy" userId="02001174c0b35c01" providerId="LiveId" clId="{C8E0087E-1F7E-4FB4-895F-C04A2D399884}" dt="2026-01-09T15:58:24.866" v="4963" actId="1076"/>
          <ac:spMkLst>
            <pc:docMk/>
            <pc:sldMk cId="1208724409" sldId="536"/>
            <ac:spMk id="2" creationId="{EE30DEE9-2DBD-C997-C208-027230B5A3EA}"/>
          </ac:spMkLst>
        </pc:spChg>
        <pc:spChg chg="add mod">
          <ac:chgData name="Atturu Jaganmohanreddy" userId="02001174c0b35c01" providerId="LiveId" clId="{C8E0087E-1F7E-4FB4-895F-C04A2D399884}" dt="2026-01-09T15:58:21.099" v="4962" actId="1076"/>
          <ac:spMkLst>
            <pc:docMk/>
            <pc:sldMk cId="1208724409" sldId="536"/>
            <ac:spMk id="7" creationId="{80C8F468-9964-109A-148F-ABF535A6EE26}"/>
          </ac:spMkLst>
        </pc:spChg>
      </pc:sldChg>
      <pc:sldChg chg="modSp add mod ord">
        <pc:chgData name="Atturu Jaganmohanreddy" userId="02001174c0b35c01" providerId="LiveId" clId="{C8E0087E-1F7E-4FB4-895F-C04A2D399884}" dt="2026-01-06T14:26:43.369" v="4668" actId="113"/>
        <pc:sldMkLst>
          <pc:docMk/>
          <pc:sldMk cId="1249734882" sldId="550"/>
        </pc:sldMkLst>
        <pc:spChg chg="mod">
          <ac:chgData name="Atturu Jaganmohanreddy" userId="02001174c0b35c01" providerId="LiveId" clId="{C8E0087E-1F7E-4FB4-895F-C04A2D399884}" dt="2026-01-06T14:26:43.369" v="4668" actId="113"/>
          <ac:spMkLst>
            <pc:docMk/>
            <pc:sldMk cId="1249734882" sldId="550"/>
            <ac:spMk id="3" creationId="{94FDD36C-1DD9-8CE4-2CA0-20705C9016F1}"/>
          </ac:spMkLst>
        </pc:spChg>
      </pc:sldChg>
      <pc:sldChg chg="modSp add mod ord">
        <pc:chgData name="Atturu Jaganmohanreddy" userId="02001174c0b35c01" providerId="LiveId" clId="{C8E0087E-1F7E-4FB4-895F-C04A2D399884}" dt="2026-01-06T14:24:13.758" v="4645" actId="113"/>
        <pc:sldMkLst>
          <pc:docMk/>
          <pc:sldMk cId="588274421" sldId="551"/>
        </pc:sldMkLst>
        <pc:spChg chg="mod">
          <ac:chgData name="Atturu Jaganmohanreddy" userId="02001174c0b35c01" providerId="LiveId" clId="{C8E0087E-1F7E-4FB4-895F-C04A2D399884}" dt="2026-01-06T14:24:13.758" v="4645" actId="113"/>
          <ac:spMkLst>
            <pc:docMk/>
            <pc:sldMk cId="588274421" sldId="551"/>
            <ac:spMk id="3" creationId="{DEBCA9A6-F05F-698F-599C-1304688F4AEC}"/>
          </ac:spMkLst>
        </pc:spChg>
      </pc:sldChg>
      <pc:sldChg chg="addSp delSp modSp new mod">
        <pc:chgData name="Atturu Jaganmohanreddy" userId="02001174c0b35c01" providerId="LiveId" clId="{C8E0087E-1F7E-4FB4-895F-C04A2D399884}" dt="2026-01-06T14:25:42.788" v="4658" actId="1076"/>
        <pc:sldMkLst>
          <pc:docMk/>
          <pc:sldMk cId="2853824747" sldId="552"/>
        </pc:sldMkLst>
        <pc:spChg chg="mod">
          <ac:chgData name="Atturu Jaganmohanreddy" userId="02001174c0b35c01" providerId="LiveId" clId="{C8E0087E-1F7E-4FB4-895F-C04A2D399884}" dt="2026-01-05T13:56:39.423" v="4307" actId="1076"/>
          <ac:spMkLst>
            <pc:docMk/>
            <pc:sldMk cId="2853824747" sldId="552"/>
            <ac:spMk id="2" creationId="{FDA511C9-CCFA-E547-B6B7-D2D7A89F43F9}"/>
          </ac:spMkLst>
        </pc:spChg>
        <pc:spChg chg="add mod">
          <ac:chgData name="Atturu Jaganmohanreddy" userId="02001174c0b35c01" providerId="LiveId" clId="{C8E0087E-1F7E-4FB4-895F-C04A2D399884}" dt="2026-01-06T14:25:38.961" v="4657" actId="1076"/>
          <ac:spMkLst>
            <pc:docMk/>
            <pc:sldMk cId="2853824747" sldId="552"/>
            <ac:spMk id="4" creationId="{B312088F-32B3-92E0-4AF1-4EFADE8061AF}"/>
          </ac:spMkLst>
        </pc:spChg>
        <pc:spChg chg="add mod">
          <ac:chgData name="Atturu Jaganmohanreddy" userId="02001174c0b35c01" providerId="LiveId" clId="{C8E0087E-1F7E-4FB4-895F-C04A2D399884}" dt="2026-01-05T13:57:23.480" v="4320" actId="20577"/>
          <ac:spMkLst>
            <pc:docMk/>
            <pc:sldMk cId="2853824747" sldId="552"/>
            <ac:spMk id="5" creationId="{C50B6DED-14DB-24D2-C625-12562B4D742F}"/>
          </ac:spMkLst>
        </pc:spChg>
        <pc:spChg chg="add mod">
          <ac:chgData name="Atturu Jaganmohanreddy" userId="02001174c0b35c01" providerId="LiveId" clId="{C8E0087E-1F7E-4FB4-895F-C04A2D399884}" dt="2026-01-06T14:25:42.788" v="4658" actId="1076"/>
          <ac:spMkLst>
            <pc:docMk/>
            <pc:sldMk cId="2853824747" sldId="552"/>
            <ac:spMk id="7" creationId="{98787DB4-FF2F-E203-216E-A37057E4CCDC}"/>
          </ac:spMkLst>
        </pc:spChg>
        <pc:spChg chg="add mod">
          <ac:chgData name="Atturu Jaganmohanreddy" userId="02001174c0b35c01" providerId="LiveId" clId="{C8E0087E-1F7E-4FB4-895F-C04A2D399884}" dt="2026-01-05T13:56:58.279" v="4310" actId="1076"/>
          <ac:spMkLst>
            <pc:docMk/>
            <pc:sldMk cId="2853824747" sldId="552"/>
            <ac:spMk id="8" creationId="{54929B86-759F-98DB-391B-28D5B4F62ABE}"/>
          </ac:spMkLst>
        </pc:spChg>
      </pc:sldChg>
      <pc:sldChg chg="addSp delSp modSp add mod">
        <pc:chgData name="Atturu Jaganmohanreddy" userId="02001174c0b35c01" providerId="LiveId" clId="{C8E0087E-1F7E-4FB4-895F-C04A2D399884}" dt="2026-01-06T14:26:20.846" v="4663" actId="5793"/>
        <pc:sldMkLst>
          <pc:docMk/>
          <pc:sldMk cId="4070215954" sldId="553"/>
        </pc:sldMkLst>
        <pc:spChg chg="add mod">
          <ac:chgData name="Atturu Jaganmohanreddy" userId="02001174c0b35c01" providerId="LiveId" clId="{C8E0087E-1F7E-4FB4-895F-C04A2D399884}" dt="2026-01-06T14:26:20.846" v="4663" actId="5793"/>
          <ac:spMkLst>
            <pc:docMk/>
            <pc:sldMk cId="4070215954" sldId="553"/>
            <ac:spMk id="4" creationId="{93B7761F-FAAE-5E50-1E08-2BBBE9565694}"/>
          </ac:spMkLst>
        </pc:spChg>
      </pc:sldChg>
      <pc:sldChg chg="modSp add mod">
        <pc:chgData name="Atturu Jaganmohanreddy" userId="02001174c0b35c01" providerId="LiveId" clId="{C8E0087E-1F7E-4FB4-895F-C04A2D399884}" dt="2026-01-06T14:26:32.997" v="4667" actId="5793"/>
        <pc:sldMkLst>
          <pc:docMk/>
          <pc:sldMk cId="2794309584" sldId="554"/>
        </pc:sldMkLst>
        <pc:spChg chg="mod">
          <ac:chgData name="Atturu Jaganmohanreddy" userId="02001174c0b35c01" providerId="LiveId" clId="{C8E0087E-1F7E-4FB4-895F-C04A2D399884}" dt="2026-01-06T14:26:29.730" v="4665" actId="5793"/>
          <ac:spMkLst>
            <pc:docMk/>
            <pc:sldMk cId="2794309584" sldId="554"/>
            <ac:spMk id="3" creationId="{B4505EF4-A250-8AC9-C358-7E7B820CCF0A}"/>
          </ac:spMkLst>
        </pc:spChg>
        <pc:spChg chg="mod">
          <ac:chgData name="Atturu Jaganmohanreddy" userId="02001174c0b35c01" providerId="LiveId" clId="{C8E0087E-1F7E-4FB4-895F-C04A2D399884}" dt="2026-01-06T14:26:32.997" v="4667" actId="5793"/>
          <ac:spMkLst>
            <pc:docMk/>
            <pc:sldMk cId="2794309584" sldId="554"/>
            <ac:spMk id="4" creationId="{4A338D0E-9EE6-E85E-07B2-0CA713BED81E}"/>
          </ac:spMkLst>
        </pc:spChg>
      </pc:sldChg>
      <pc:sldChg chg="addSp delSp modSp add mod">
        <pc:chgData name="Atturu Jaganmohanreddy" userId="02001174c0b35c01" providerId="LiveId" clId="{C8E0087E-1F7E-4FB4-895F-C04A2D399884}" dt="2026-01-06T14:26:51.736" v="4672" actId="5793"/>
        <pc:sldMkLst>
          <pc:docMk/>
          <pc:sldMk cId="2761636045" sldId="555"/>
        </pc:sldMkLst>
        <pc:spChg chg="add del mod">
          <ac:chgData name="Atturu Jaganmohanreddy" userId="02001174c0b35c01" providerId="LiveId" clId="{C8E0087E-1F7E-4FB4-895F-C04A2D399884}" dt="2026-01-05T13:44:22.313" v="3575" actId="1076"/>
          <ac:spMkLst>
            <pc:docMk/>
            <pc:sldMk cId="2761636045" sldId="555"/>
            <ac:spMk id="2" creationId="{A2571B8D-4417-444A-20F3-4AA1CB74AD20}"/>
          </ac:spMkLst>
        </pc:spChg>
        <pc:spChg chg="add del mod">
          <ac:chgData name="Atturu Jaganmohanreddy" userId="02001174c0b35c01" providerId="LiveId" clId="{C8E0087E-1F7E-4FB4-895F-C04A2D399884}" dt="2026-01-06T14:26:49.010" v="4670" actId="5793"/>
          <ac:spMkLst>
            <pc:docMk/>
            <pc:sldMk cId="2761636045" sldId="555"/>
            <ac:spMk id="3" creationId="{51940CDD-EE13-73E4-8536-50C25740A7C6}"/>
          </ac:spMkLst>
        </pc:spChg>
        <pc:spChg chg="add mod">
          <ac:chgData name="Atturu Jaganmohanreddy" userId="02001174c0b35c01" providerId="LiveId" clId="{C8E0087E-1F7E-4FB4-895F-C04A2D399884}" dt="2026-01-06T14:26:51.736" v="4672" actId="5793"/>
          <ac:spMkLst>
            <pc:docMk/>
            <pc:sldMk cId="2761636045" sldId="555"/>
            <ac:spMk id="8" creationId="{C895F353-650E-587E-DB30-54D174A75C28}"/>
          </ac:spMkLst>
        </pc:spChg>
      </pc:sldChg>
      <pc:sldChg chg="modSp add mod ord">
        <pc:chgData name="Atturu Jaganmohanreddy" userId="02001174c0b35c01" providerId="LiveId" clId="{C8E0087E-1F7E-4FB4-895F-C04A2D399884}" dt="2026-01-05T13:47:29.098" v="3875" actId="1076"/>
        <pc:sldMkLst>
          <pc:docMk/>
          <pc:sldMk cId="899863629" sldId="556"/>
        </pc:sldMkLst>
        <pc:spChg chg="mod">
          <ac:chgData name="Atturu Jaganmohanreddy" userId="02001174c0b35c01" providerId="LiveId" clId="{C8E0087E-1F7E-4FB4-895F-C04A2D399884}" dt="2026-01-05T13:47:29.098" v="3875" actId="1076"/>
          <ac:spMkLst>
            <pc:docMk/>
            <pc:sldMk cId="899863629" sldId="556"/>
            <ac:spMk id="2" creationId="{A343F079-2086-80A3-232D-3491A00BBD6D}"/>
          </ac:spMkLst>
        </pc:spChg>
        <pc:spChg chg="mod">
          <ac:chgData name="Atturu Jaganmohanreddy" userId="02001174c0b35c01" providerId="LiveId" clId="{C8E0087E-1F7E-4FB4-895F-C04A2D399884}" dt="2026-01-05T13:47:25.097" v="3874" actId="1076"/>
          <ac:spMkLst>
            <pc:docMk/>
            <pc:sldMk cId="899863629" sldId="556"/>
            <ac:spMk id="3" creationId="{F0F28678-E078-CEEE-3DB2-4F4C2EB4D981}"/>
          </ac:spMkLst>
        </pc:spChg>
      </pc:sldChg>
      <pc:sldChg chg="addSp delSp modSp add mod ord">
        <pc:chgData name="Atturu Jaganmohanreddy" userId="02001174c0b35c01" providerId="LiveId" clId="{C8E0087E-1F7E-4FB4-895F-C04A2D399884}" dt="2026-01-06T14:44:51.892" v="4960" actId="1076"/>
        <pc:sldMkLst>
          <pc:docMk/>
          <pc:sldMk cId="1615764807" sldId="557"/>
        </pc:sldMkLst>
        <pc:spChg chg="add del mod">
          <ac:chgData name="Atturu Jaganmohanreddy" userId="02001174c0b35c01" providerId="LiveId" clId="{C8E0087E-1F7E-4FB4-895F-C04A2D399884}" dt="2026-01-05T13:56:13.645" v="4292" actId="1076"/>
          <ac:spMkLst>
            <pc:docMk/>
            <pc:sldMk cId="1615764807" sldId="557"/>
            <ac:spMk id="2" creationId="{63AD451F-6566-478E-EC46-DB0BD2831955}"/>
          </ac:spMkLst>
        </pc:spChg>
        <pc:spChg chg="mod">
          <ac:chgData name="Atturu Jaganmohanreddy" userId="02001174c0b35c01" providerId="LiveId" clId="{C8E0087E-1F7E-4FB4-895F-C04A2D399884}" dt="2026-01-06T14:44:51.892" v="4960" actId="1076"/>
          <ac:spMkLst>
            <pc:docMk/>
            <pc:sldMk cId="1615764807" sldId="557"/>
            <ac:spMk id="3" creationId="{F42B8FFC-65A2-511B-1D9B-1C654C724010}"/>
          </ac:spMkLst>
        </pc:spChg>
      </pc:sldChg>
      <pc:sldChg chg="addSp delSp modSp new mod">
        <pc:chgData name="Atturu Jaganmohanreddy" userId="02001174c0b35c01" providerId="LiveId" clId="{C8E0087E-1F7E-4FB4-895F-C04A2D399884}" dt="2026-01-06T14:26:07.865" v="4661" actId="732"/>
        <pc:sldMkLst>
          <pc:docMk/>
          <pc:sldMk cId="3025253910" sldId="558"/>
        </pc:sldMkLst>
        <pc:spChg chg="mod">
          <ac:chgData name="Atturu Jaganmohanreddy" userId="02001174c0b35c01" providerId="LiveId" clId="{C8E0087E-1F7E-4FB4-895F-C04A2D399884}" dt="2026-01-05T14:25:57.772" v="4345" actId="5793"/>
          <ac:spMkLst>
            <pc:docMk/>
            <pc:sldMk cId="3025253910" sldId="558"/>
            <ac:spMk id="2" creationId="{4FB5A701-9013-1ED4-BC17-AA71A78EB14E}"/>
          </ac:spMkLst>
        </pc:spChg>
        <pc:picChg chg="add mod ord modCrop">
          <ac:chgData name="Atturu Jaganmohanreddy" userId="02001174c0b35c01" providerId="LiveId" clId="{C8E0087E-1F7E-4FB4-895F-C04A2D399884}" dt="2026-01-06T14:26:07.865" v="4661" actId="732"/>
          <ac:picMkLst>
            <pc:docMk/>
            <pc:sldMk cId="3025253910" sldId="558"/>
            <ac:picMk id="7" creationId="{4BFA5FC3-72A6-1BB1-1650-79BB896A3686}"/>
          </ac:picMkLst>
        </pc:picChg>
      </pc:sldChg>
      <pc:sldChg chg="addSp delSp modSp add mod ord">
        <pc:chgData name="Atturu Jaganmohanreddy" userId="02001174c0b35c01" providerId="LiveId" clId="{C8E0087E-1F7E-4FB4-895F-C04A2D399884}" dt="2026-01-05T14:28:17.758" v="4361" actId="1076"/>
        <pc:sldMkLst>
          <pc:docMk/>
          <pc:sldMk cId="2084156854" sldId="559"/>
        </pc:sldMkLst>
        <pc:picChg chg="add mod ord modCrop">
          <ac:chgData name="Atturu Jaganmohanreddy" userId="02001174c0b35c01" providerId="LiveId" clId="{C8E0087E-1F7E-4FB4-895F-C04A2D399884}" dt="2026-01-05T14:28:17.758" v="4361" actId="1076"/>
          <ac:picMkLst>
            <pc:docMk/>
            <pc:sldMk cId="2084156854" sldId="559"/>
            <ac:picMk id="13" creationId="{5461D3E4-A78E-6633-CBFA-1A3C35D4BD0D}"/>
          </ac:picMkLst>
        </pc:picChg>
      </pc:sldChg>
      <pc:sldChg chg="addSp delSp modSp add mod ord">
        <pc:chgData name="Atturu Jaganmohanreddy" userId="02001174c0b35c01" providerId="LiveId" clId="{C8E0087E-1F7E-4FB4-895F-C04A2D399884}" dt="2026-01-05T14:30:14.460" v="4374" actId="1076"/>
        <pc:sldMkLst>
          <pc:docMk/>
          <pc:sldMk cId="2595034273" sldId="560"/>
        </pc:sldMkLst>
        <pc:picChg chg="add mod ord modCrop">
          <ac:chgData name="Atturu Jaganmohanreddy" userId="02001174c0b35c01" providerId="LiveId" clId="{C8E0087E-1F7E-4FB4-895F-C04A2D399884}" dt="2026-01-05T14:30:14.460" v="4374" actId="1076"/>
          <ac:picMkLst>
            <pc:docMk/>
            <pc:sldMk cId="2595034273" sldId="560"/>
            <ac:picMk id="8" creationId="{D0CC4156-005F-A887-3F70-67C1E8B73DDF}"/>
          </ac:picMkLst>
        </pc:picChg>
      </pc:sldChg>
      <pc:sldChg chg="addSp delSp modSp add mod ord">
        <pc:chgData name="Atturu Jaganmohanreddy" userId="02001174c0b35c01" providerId="LiveId" clId="{C8E0087E-1F7E-4FB4-895F-C04A2D399884}" dt="2026-01-06T12:57:10.305" v="4395" actId="1076"/>
        <pc:sldMkLst>
          <pc:docMk/>
          <pc:sldMk cId="1844281211" sldId="561"/>
        </pc:sldMkLst>
        <pc:picChg chg="add mod ord modCrop">
          <ac:chgData name="Atturu Jaganmohanreddy" userId="02001174c0b35c01" providerId="LiveId" clId="{C8E0087E-1F7E-4FB4-895F-C04A2D399884}" dt="2026-01-06T12:57:10.305" v="4395" actId="1076"/>
          <ac:picMkLst>
            <pc:docMk/>
            <pc:sldMk cId="1844281211" sldId="561"/>
            <ac:picMk id="9" creationId="{477BFE02-A5F5-C33B-62B5-E1D093E1A8F6}"/>
          </ac:picMkLst>
        </pc:picChg>
      </pc:sldChg>
      <pc:sldChg chg="addSp modSp add mod">
        <pc:chgData name="Atturu Jaganmohanreddy" userId="02001174c0b35c01" providerId="LiveId" clId="{C8E0087E-1F7E-4FB4-895F-C04A2D399884}" dt="2026-01-10T14:40:37.992" v="5132" actId="20577"/>
        <pc:sldMkLst>
          <pc:docMk/>
          <pc:sldMk cId="3860552145" sldId="562"/>
        </pc:sldMkLst>
        <pc:spChg chg="mod">
          <ac:chgData name="Atturu Jaganmohanreddy" userId="02001174c0b35c01" providerId="LiveId" clId="{C8E0087E-1F7E-4FB4-895F-C04A2D399884}" dt="2026-01-10T14:40:37.992" v="5132" actId="20577"/>
          <ac:spMkLst>
            <pc:docMk/>
            <pc:sldMk cId="3860552145" sldId="562"/>
            <ac:spMk id="2" creationId="{31E5FF2F-2082-13C9-F126-9BD7E6EB3BCD}"/>
          </ac:spMkLst>
        </pc:spChg>
        <pc:spChg chg="mod">
          <ac:chgData name="Atturu Jaganmohanreddy" userId="02001174c0b35c01" providerId="LiveId" clId="{C8E0087E-1F7E-4FB4-895F-C04A2D399884}" dt="2026-01-06T14:22:01.149" v="4636" actId="1076"/>
          <ac:spMkLst>
            <pc:docMk/>
            <pc:sldMk cId="3860552145" sldId="562"/>
            <ac:spMk id="3" creationId="{457E4953-76D9-BE33-542E-F4BB76C0CF36}"/>
          </ac:spMkLst>
        </pc:spChg>
        <pc:picChg chg="add mod modCrop">
          <ac:chgData name="Atturu Jaganmohanreddy" userId="02001174c0b35c01" providerId="LiveId" clId="{C8E0087E-1F7E-4FB4-895F-C04A2D399884}" dt="2026-01-06T14:21:56.240" v="4635" actId="1076"/>
          <ac:picMkLst>
            <pc:docMk/>
            <pc:sldMk cId="3860552145" sldId="562"/>
            <ac:picMk id="5" creationId="{F877D31D-2149-930F-C676-D3D3892439AA}"/>
          </ac:picMkLst>
        </pc:picChg>
      </pc:sldChg>
      <pc:sldChg chg="addSp delSp modSp add mod">
        <pc:chgData name="Atturu Jaganmohanreddy" userId="02001174c0b35c01" providerId="LiveId" clId="{C8E0087E-1F7E-4FB4-895F-C04A2D399884}" dt="2026-01-06T14:41:20.799" v="4850" actId="1076"/>
        <pc:sldMkLst>
          <pc:docMk/>
          <pc:sldMk cId="1246482460" sldId="563"/>
        </pc:sldMkLst>
        <pc:spChg chg="add del mod">
          <ac:chgData name="Atturu Jaganmohanreddy" userId="02001174c0b35c01" providerId="LiveId" clId="{C8E0087E-1F7E-4FB4-895F-C04A2D399884}" dt="2026-01-06T14:40:38.759" v="4773" actId="1076"/>
          <ac:spMkLst>
            <pc:docMk/>
            <pc:sldMk cId="1246482460" sldId="563"/>
            <ac:spMk id="5" creationId="{A1B1856E-076E-745A-0A7B-D769365EED03}"/>
          </ac:spMkLst>
        </pc:spChg>
        <pc:spChg chg="add mod">
          <ac:chgData name="Atturu Jaganmohanreddy" userId="02001174c0b35c01" providerId="LiveId" clId="{C8E0087E-1F7E-4FB4-895F-C04A2D399884}" dt="2026-01-06T14:41:20.799" v="4850" actId="1076"/>
          <ac:spMkLst>
            <pc:docMk/>
            <pc:sldMk cId="1246482460" sldId="563"/>
            <ac:spMk id="6" creationId="{9BBCD15A-E51E-37FA-3EE7-F70B3D3FB18E}"/>
          </ac:spMkLst>
        </pc:spChg>
      </pc:sldChg>
      <pc:sldChg chg="addSp delSp modSp add mod setBg">
        <pc:chgData name="Atturu Jaganmohanreddy" userId="02001174c0b35c01" providerId="LiveId" clId="{C8E0087E-1F7E-4FB4-895F-C04A2D399884}" dt="2026-01-12T15:03:25.906" v="5410" actId="113"/>
        <pc:sldMkLst>
          <pc:docMk/>
          <pc:sldMk cId="1083887245" sldId="564"/>
        </pc:sldMkLst>
        <pc:spChg chg="mod">
          <ac:chgData name="Atturu Jaganmohanreddy" userId="02001174c0b35c01" providerId="LiveId" clId="{C8E0087E-1F7E-4FB4-895F-C04A2D399884}" dt="2026-01-10T14:40:31.232" v="5130" actId="1076"/>
          <ac:spMkLst>
            <pc:docMk/>
            <pc:sldMk cId="1083887245" sldId="564"/>
            <ac:spMk id="2" creationId="{D26036F7-EC2F-5FC1-EC3C-A019C31597F9}"/>
          </ac:spMkLst>
        </pc:spChg>
        <pc:spChg chg="mod">
          <ac:chgData name="Atturu Jaganmohanreddy" userId="02001174c0b35c01" providerId="LiveId" clId="{C8E0087E-1F7E-4FB4-895F-C04A2D399884}" dt="2026-01-12T15:03:25.906" v="5410" actId="113"/>
          <ac:spMkLst>
            <pc:docMk/>
            <pc:sldMk cId="1083887245" sldId="564"/>
            <ac:spMk id="3" creationId="{F75EBFD2-4686-9CD6-7227-F57361BE878D}"/>
          </ac:spMkLst>
        </pc:spChg>
      </pc:sldChg>
      <pc:sldChg chg="addSp delSp modSp add mod">
        <pc:chgData name="Atturu Jaganmohanreddy" userId="02001174c0b35c01" providerId="LiveId" clId="{C8E0087E-1F7E-4FB4-895F-C04A2D399884}" dt="2026-01-13T14:35:34.706" v="5446" actId="113"/>
        <pc:sldMkLst>
          <pc:docMk/>
          <pc:sldMk cId="2604496396" sldId="566"/>
        </pc:sldMkLst>
        <pc:spChg chg="mod">
          <ac:chgData name="Atturu Jaganmohanreddy" userId="02001174c0b35c01" providerId="LiveId" clId="{C8E0087E-1F7E-4FB4-895F-C04A2D399884}" dt="2026-01-11T04:52:50.179" v="5387" actId="1076"/>
          <ac:spMkLst>
            <pc:docMk/>
            <pc:sldMk cId="2604496396" sldId="566"/>
            <ac:spMk id="2" creationId="{6B5D1A0B-236C-CB81-95A7-D6803EA4CB53}"/>
          </ac:spMkLst>
        </pc:spChg>
        <pc:spChg chg="add mod">
          <ac:chgData name="Atturu Jaganmohanreddy" userId="02001174c0b35c01" providerId="LiveId" clId="{C8E0087E-1F7E-4FB4-895F-C04A2D399884}" dt="2026-01-13T14:35:34.706" v="5446" actId="113"/>
          <ac:spMkLst>
            <pc:docMk/>
            <pc:sldMk cId="2604496396" sldId="566"/>
            <ac:spMk id="6" creationId="{12FD3FE0-F61C-01A3-1562-D185672A9422}"/>
          </ac:spMkLst>
        </pc:spChg>
      </pc:sldChg>
      <pc:sldChg chg="modSp new mod">
        <pc:chgData name="Atturu Jaganmohanreddy" userId="02001174c0b35c01" providerId="LiveId" clId="{C8E0087E-1F7E-4FB4-895F-C04A2D399884}" dt="2026-02-02T14:31:07.965" v="6018" actId="20577"/>
        <pc:sldMkLst>
          <pc:docMk/>
          <pc:sldMk cId="4154666996" sldId="567"/>
        </pc:sldMkLst>
        <pc:spChg chg="mod">
          <ac:chgData name="Atturu Jaganmohanreddy" userId="02001174c0b35c01" providerId="LiveId" clId="{C8E0087E-1F7E-4FB4-895F-C04A2D399884}" dt="2026-02-02T14:31:07.965" v="6018" actId="20577"/>
          <ac:spMkLst>
            <pc:docMk/>
            <pc:sldMk cId="4154666996" sldId="567"/>
            <ac:spMk id="2" creationId="{07576D78-74FA-82BC-FE42-C86CAF158806}"/>
          </ac:spMkLst>
        </pc:spChg>
        <pc:spChg chg="mod">
          <ac:chgData name="Atturu Jaganmohanreddy" userId="02001174c0b35c01" providerId="LiveId" clId="{C8E0087E-1F7E-4FB4-895F-C04A2D399884}" dt="2026-02-02T14:30:18.874" v="6016" actId="20577"/>
          <ac:spMkLst>
            <pc:docMk/>
            <pc:sldMk cId="4154666996" sldId="567"/>
            <ac:spMk id="3" creationId="{1442C7A0-5572-9BC9-DD45-CBBD6E5C734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1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7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8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8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3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5" y="271596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8" y="272100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7" y="271697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5" y="272601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19" y="271852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4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2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6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10564958" cy="1481328"/>
          </a:xfrm>
        </p:spPr>
        <p:txBody>
          <a:bodyPr/>
          <a:lstStyle/>
          <a:p>
            <a:r>
              <a:rPr lang="en-US" dirty="0"/>
              <a:t>CRYPTO</a:t>
            </a:r>
            <a:br>
              <a:rPr lang="en-US" dirty="0"/>
            </a:br>
            <a:r>
              <a:rPr lang="en-US" dirty="0"/>
              <a:t>VOLATILITY &amp; risk Analyzer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1800" dirty="0"/>
              <a:t>Atturu Jaganmohanreddy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9547" y="464107"/>
            <a:ext cx="8878824" cy="1069848"/>
          </a:xfrm>
        </p:spPr>
        <p:txBody>
          <a:bodyPr>
            <a:normAutofit/>
          </a:bodyPr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204" y="1810610"/>
            <a:ext cx="6093640" cy="3826567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Project Statement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Introduction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Work Flow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latin typeface="Segoe UI Light" panose="020B0502040204020203" pitchFamily="34" charset="0"/>
                <a:cs typeface="Segoe UI Light" panose="020B0502040204020203" pitchFamily="34" charset="0"/>
              </a:rPr>
              <a:t>Structure Of Architecture</a:t>
            </a:r>
            <a:endParaRPr lang="en-US" sz="2200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Flow Of Modules</a:t>
            </a:r>
          </a:p>
          <a:p>
            <a:pPr marL="342900" indent="-342900" algn="l">
              <a:lnSpc>
                <a:spcPct val="150000"/>
              </a:lnSpc>
              <a:buClr>
                <a:schemeClr val="accent6"/>
              </a:buClr>
              <a:buFont typeface="Courier New" panose="02070309020205020404" pitchFamily="49" charset="0"/>
              <a:buChar char="o"/>
            </a:pPr>
            <a:r>
              <a:rPr lang="en-US" sz="2200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D0AE42-75AF-229C-2692-C10ADA4FFA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2A8B0-333F-633E-3FA7-D38DBFB10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909621"/>
            <a:ext cx="7735824" cy="662379"/>
          </a:xfrm>
        </p:spPr>
        <p:txBody>
          <a:bodyPr/>
          <a:lstStyle/>
          <a:p>
            <a:r>
              <a:rPr lang="en-US" sz="2000" dirty="0"/>
              <a:t>Crypto Volatility and Risk Analyzer delivers real‑time dashboards that reveal cryptocurrency risk through volatility and performance metrics.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E20A-EEA7-CBA8-161D-BCC72D6A1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D1A0B-236C-CB81-95A7-D6803EA4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1974" y="391324"/>
            <a:ext cx="4687627" cy="662104"/>
          </a:xfrm>
        </p:spPr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53AA9A-516A-8ECB-93D3-9F4E09D939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92F2D2-055B-CDC1-578F-AF4944BECF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2FD3FE0-F61C-01A3-1562-D185672A94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2047" y="1260733"/>
            <a:ext cx="10490354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Market Dynamics: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Cryptocurrencies are highly volatile assets, with prices influenced by global demand, trading volume, and market sentiment.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Need for Risk Analysis: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Investors face uncertainty due to rapid fluctuations. Measuring volatility and risk metrics helps in making informed decisions.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Project Objective: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 design a Crypto Volatility &amp; Risk Analyzer that integrates live data, applies statistical measures, and visualizes risk levels.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Key Features</a:t>
            </a:r>
            <a:r>
              <a:rPr kumimoji="0" lang="en-US" altLang="en-US" sz="1800" b="0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Real-time data acquisition from APIs (Binance,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CoinGecko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Statistical calculations (Volatility, Sharpe Ratio, Beta)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Interactive dashboards for visualization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Risk classification into Low, Medium, High categories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Outcome: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	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 user-friendly system that empowers traders and analysts with actionable insights for safer crypto investing.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49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 FLOW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7C1943E-2BCD-D851-F9B5-83C51D7D978D}"/>
              </a:ext>
            </a:extLst>
          </p:cNvPr>
          <p:cNvSpPr/>
          <p:nvPr/>
        </p:nvSpPr>
        <p:spPr>
          <a:xfrm>
            <a:off x="485273" y="3636867"/>
            <a:ext cx="1423738" cy="149319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Data </a:t>
            </a:r>
          </a:p>
          <a:p>
            <a:pPr algn="ctr"/>
            <a:r>
              <a:rPr lang="en-IN" sz="1400" dirty="0">
                <a:solidFill>
                  <a:schemeClr val="tx1"/>
                </a:solidFill>
              </a:rPr>
              <a:t>Acquisition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D885261-C57E-A927-0476-5E21ACB20651}"/>
              </a:ext>
            </a:extLst>
          </p:cNvPr>
          <p:cNvSpPr/>
          <p:nvPr/>
        </p:nvSpPr>
        <p:spPr>
          <a:xfrm>
            <a:off x="2358190" y="3683509"/>
            <a:ext cx="1423738" cy="148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Data Processing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6398B6F-C2E1-C3A3-2F43-C21FB92AF1FE}"/>
              </a:ext>
            </a:extLst>
          </p:cNvPr>
          <p:cNvSpPr/>
          <p:nvPr/>
        </p:nvSpPr>
        <p:spPr>
          <a:xfrm>
            <a:off x="4291264" y="3737170"/>
            <a:ext cx="1423738" cy="14283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Risk Calculation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103C64-0458-0525-9D1E-AB4D275B3168}"/>
              </a:ext>
            </a:extLst>
          </p:cNvPr>
          <p:cNvSpPr/>
          <p:nvPr/>
        </p:nvSpPr>
        <p:spPr>
          <a:xfrm>
            <a:off x="6224337" y="3683509"/>
            <a:ext cx="1572643" cy="142838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0D41F22-75D5-0322-5D3F-616CC49E789F}"/>
              </a:ext>
            </a:extLst>
          </p:cNvPr>
          <p:cNvSpPr/>
          <p:nvPr/>
        </p:nvSpPr>
        <p:spPr>
          <a:xfrm>
            <a:off x="8269705" y="3689683"/>
            <a:ext cx="1660875" cy="142221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Risk Classification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68972BD-A9D5-1759-40A1-90711A31AB07}"/>
              </a:ext>
            </a:extLst>
          </p:cNvPr>
          <p:cNvSpPr/>
          <p:nvPr/>
        </p:nvSpPr>
        <p:spPr>
          <a:xfrm>
            <a:off x="10315074" y="3672361"/>
            <a:ext cx="1423738" cy="142221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dirty="0">
                <a:solidFill>
                  <a:schemeClr val="tx1"/>
                </a:solidFill>
              </a:rPr>
              <a:t>Reporting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3252A1-51AE-36E1-CE3B-D88466BA88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085FCE-8240-23FC-55EF-2DA61B534118}"/>
              </a:ext>
            </a:extLst>
          </p:cNvPr>
          <p:cNvSpPr/>
          <p:nvPr/>
        </p:nvSpPr>
        <p:spPr>
          <a:xfrm>
            <a:off x="6096000" y="722376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Binance 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4A6E63-0032-93A3-825E-33E3A5A2C47F}"/>
              </a:ext>
            </a:extLst>
          </p:cNvPr>
          <p:cNvSpPr/>
          <p:nvPr/>
        </p:nvSpPr>
        <p:spPr>
          <a:xfrm>
            <a:off x="8133347" y="722376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CoinGecko 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11961A-2C8D-6993-95C1-1D18E45C9D9D}"/>
              </a:ext>
            </a:extLst>
          </p:cNvPr>
          <p:cNvSpPr/>
          <p:nvPr/>
        </p:nvSpPr>
        <p:spPr>
          <a:xfrm>
            <a:off x="6096000" y="2069432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Python Backend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2492E4-02ED-EB09-44B1-6910F4919A11}"/>
              </a:ext>
            </a:extLst>
          </p:cNvPr>
          <p:cNvSpPr/>
          <p:nvPr/>
        </p:nvSpPr>
        <p:spPr>
          <a:xfrm>
            <a:off x="8133347" y="2069432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Database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D1E14E-EC6A-8E98-7F7C-5F21A26BD4F1}"/>
              </a:ext>
            </a:extLst>
          </p:cNvPr>
          <p:cNvSpPr/>
          <p:nvPr/>
        </p:nvSpPr>
        <p:spPr>
          <a:xfrm>
            <a:off x="6095999" y="3416488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Data Processing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D27C9B-FE54-17B8-2C0E-B6B4B3BB8C72}"/>
              </a:ext>
            </a:extLst>
          </p:cNvPr>
          <p:cNvSpPr/>
          <p:nvPr/>
        </p:nvSpPr>
        <p:spPr>
          <a:xfrm>
            <a:off x="8133347" y="3429000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Risk Calculation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FA36F9-6266-22B8-EE96-DEF5E67A9AAE}"/>
              </a:ext>
            </a:extLst>
          </p:cNvPr>
          <p:cNvSpPr/>
          <p:nvPr/>
        </p:nvSpPr>
        <p:spPr>
          <a:xfrm>
            <a:off x="6095999" y="4763544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Dashboard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FE72F88-CB90-964A-3DAD-92C356B3B9A5}"/>
              </a:ext>
            </a:extLst>
          </p:cNvPr>
          <p:cNvSpPr/>
          <p:nvPr/>
        </p:nvSpPr>
        <p:spPr>
          <a:xfrm>
            <a:off x="8133347" y="4763544"/>
            <a:ext cx="1748589" cy="801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</a:rPr>
              <a:t>Report Generator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183665-50C3-9879-0F07-3A8D783EC1B0}"/>
              </a:ext>
            </a:extLst>
          </p:cNvPr>
          <p:cNvSpPr txBox="1"/>
          <p:nvPr/>
        </p:nvSpPr>
        <p:spPr>
          <a:xfrm>
            <a:off x="794325" y="193830"/>
            <a:ext cx="479642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600" b="1" dirty="0">
                <a:solidFill>
                  <a:schemeClr val="bg1"/>
                </a:solidFill>
              </a:rPr>
              <a:t>Architecture Diagram: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5DA491-A860-9B58-EA2A-0A9C0CF689D5}"/>
              </a:ext>
            </a:extLst>
          </p:cNvPr>
          <p:cNvSpPr txBox="1"/>
          <p:nvPr/>
        </p:nvSpPr>
        <p:spPr>
          <a:xfrm>
            <a:off x="2633014" y="1102569"/>
            <a:ext cx="1459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Sources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99D8E7-EB16-036A-F1E7-BFFA6CAB401B}"/>
              </a:ext>
            </a:extLst>
          </p:cNvPr>
          <p:cNvSpPr txBox="1"/>
          <p:nvPr/>
        </p:nvSpPr>
        <p:spPr>
          <a:xfrm>
            <a:off x="2854211" y="2281524"/>
            <a:ext cx="1748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Backend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5EDAF6-9F22-9F6B-CAE9-39A387FAC8B8}"/>
              </a:ext>
            </a:extLst>
          </p:cNvPr>
          <p:cNvSpPr txBox="1"/>
          <p:nvPr/>
        </p:nvSpPr>
        <p:spPr>
          <a:xfrm>
            <a:off x="2633014" y="3460480"/>
            <a:ext cx="1636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Processing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5ACFC6-5A78-ABCB-4619-F0699B5DEC8D}"/>
              </a:ext>
            </a:extLst>
          </p:cNvPr>
          <p:cNvSpPr txBox="1"/>
          <p:nvPr/>
        </p:nvSpPr>
        <p:spPr>
          <a:xfrm>
            <a:off x="2854211" y="4763544"/>
            <a:ext cx="1491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Frontend</a:t>
            </a: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F12B0A89-9643-C3C3-8A8D-4A5B9EC3AE0C}"/>
              </a:ext>
            </a:extLst>
          </p:cNvPr>
          <p:cNvSpPr/>
          <p:nvPr/>
        </p:nvSpPr>
        <p:spPr>
          <a:xfrm>
            <a:off x="6823587" y="1622323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C65DB73E-F2C4-9E4A-7413-E9B29EA53EFC}"/>
              </a:ext>
            </a:extLst>
          </p:cNvPr>
          <p:cNvSpPr/>
          <p:nvPr/>
        </p:nvSpPr>
        <p:spPr>
          <a:xfrm>
            <a:off x="6862916" y="2934707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091738AD-6042-3319-CDE4-E7E76B5D0418}"/>
              </a:ext>
            </a:extLst>
          </p:cNvPr>
          <p:cNvSpPr/>
          <p:nvPr/>
        </p:nvSpPr>
        <p:spPr>
          <a:xfrm rot="16200000">
            <a:off x="7904127" y="3716390"/>
            <a:ext cx="169681" cy="201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701D66A-7F14-7F37-CEF9-4616F1351690}"/>
              </a:ext>
            </a:extLst>
          </p:cNvPr>
          <p:cNvSpPr/>
          <p:nvPr/>
        </p:nvSpPr>
        <p:spPr>
          <a:xfrm>
            <a:off x="8771667" y="2934707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A6DE55E0-F295-BA28-4A92-6057F04B9575}"/>
              </a:ext>
            </a:extLst>
          </p:cNvPr>
          <p:cNvSpPr/>
          <p:nvPr/>
        </p:nvSpPr>
        <p:spPr>
          <a:xfrm>
            <a:off x="8771667" y="4329936"/>
            <a:ext cx="226142" cy="33429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E2A93BA9-02F1-4159-B5AA-350EEF68E533}"/>
              </a:ext>
            </a:extLst>
          </p:cNvPr>
          <p:cNvSpPr/>
          <p:nvPr/>
        </p:nvSpPr>
        <p:spPr>
          <a:xfrm rot="16200000">
            <a:off x="7904127" y="5063446"/>
            <a:ext cx="169681" cy="20181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Arrow: Up-Down 12">
            <a:extLst>
              <a:ext uri="{FF2B5EF4-FFF2-40B4-BE49-F238E27FC236}">
                <a16:creationId xmlns:a16="http://schemas.microsoft.com/office/drawing/2014/main" id="{5849EFD9-301D-C350-38B4-07DF3C11E6F3}"/>
              </a:ext>
            </a:extLst>
          </p:cNvPr>
          <p:cNvSpPr/>
          <p:nvPr/>
        </p:nvSpPr>
        <p:spPr>
          <a:xfrm>
            <a:off x="8841786" y="1608822"/>
            <a:ext cx="156023" cy="347797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0DEE9-2DBD-C997-C208-027230B5A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804" y="667511"/>
            <a:ext cx="9994392" cy="701728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MODULEs TO BE IMPLEMENTED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CF1F9-4847-1440-0352-6D1284A48D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34491D-AF3A-C879-49E6-F11A17AC30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C8F468-9964-109A-148F-ABF535A6EE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9406" y="2232785"/>
            <a:ext cx="10332720" cy="2392429"/>
          </a:xfrm>
        </p:spPr>
        <p:txBody>
          <a:bodyPr/>
          <a:lstStyle/>
          <a:p>
            <a:pPr marL="0" indent="0">
              <a:buNone/>
            </a:pPr>
            <a:r>
              <a:rPr lang="en-US" sz="2400" b="1" dirty="0"/>
              <a:t>Categorized based on the Milestone Levels:-</a:t>
            </a:r>
          </a:p>
          <a:p>
            <a:r>
              <a:rPr lang="en-US" sz="2000" dirty="0"/>
              <a:t>Data Acquisition Module</a:t>
            </a:r>
          </a:p>
          <a:p>
            <a:r>
              <a:rPr lang="en-US" sz="2000" dirty="0"/>
              <a:t>Data Preprocessing &amp; Calculation Module</a:t>
            </a:r>
          </a:p>
          <a:p>
            <a:r>
              <a:rPr lang="en-US" sz="2000" dirty="0"/>
              <a:t>Data Visualization Module</a:t>
            </a:r>
          </a:p>
          <a:p>
            <a:r>
              <a:rPr lang="en-US" sz="2000" dirty="0"/>
              <a:t>Risk Classification &amp; Reporting Module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76D78-74FA-82BC-FE42-C86CAF158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788" y="393192"/>
            <a:ext cx="10881360" cy="514916"/>
          </a:xfrm>
        </p:spPr>
        <p:txBody>
          <a:bodyPr/>
          <a:lstStyle/>
          <a:p>
            <a:r>
              <a:rPr lang="en-IN" dirty="0"/>
              <a:t>Tools used!!!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2C7A0-5572-9BC9-DD45-CBBD6E5C7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1140542"/>
            <a:ext cx="10332720" cy="4620178"/>
          </a:xfrm>
        </p:spPr>
        <p:txBody>
          <a:bodyPr/>
          <a:lstStyle/>
          <a:p>
            <a:pPr marL="457200" indent="-457200"/>
            <a:r>
              <a:rPr lang="en-IN" b="1" dirty="0"/>
              <a:t>Python 		: </a:t>
            </a:r>
            <a:r>
              <a:rPr lang="en-IN" sz="2400" dirty="0"/>
              <a:t>A core programming language for the entire project</a:t>
            </a:r>
            <a:r>
              <a:rPr lang="en-IN" dirty="0"/>
              <a:t>.</a:t>
            </a:r>
          </a:p>
          <a:p>
            <a:pPr marL="457200" indent="-457200"/>
            <a:r>
              <a:rPr lang="en-IN" b="1" dirty="0"/>
              <a:t>HTML/CSS 	: </a:t>
            </a:r>
            <a:r>
              <a:rPr lang="en-IN" sz="2400" dirty="0"/>
              <a:t>Used for custom UI Components.</a:t>
            </a:r>
          </a:p>
          <a:p>
            <a:pPr marL="457200" indent="-457200"/>
            <a:r>
              <a:rPr lang="en-IN" b="1" dirty="0"/>
              <a:t>Streamlit	 	: </a:t>
            </a:r>
            <a:r>
              <a:rPr lang="en-IN" sz="2400" dirty="0"/>
              <a:t>Used to develop interactive web dashboards.</a:t>
            </a:r>
          </a:p>
          <a:p>
            <a:pPr marL="457200" indent="-457200"/>
            <a:r>
              <a:rPr lang="en-IN" b="1" dirty="0"/>
              <a:t>Numpy 		: </a:t>
            </a:r>
            <a:r>
              <a:rPr lang="en-IN" sz="2400" dirty="0"/>
              <a:t>Used for Numerical Calculations.</a:t>
            </a:r>
          </a:p>
          <a:p>
            <a:pPr marL="457200" indent="-457200"/>
            <a:r>
              <a:rPr lang="en-IN" b="1" dirty="0"/>
              <a:t>Pandas 		: </a:t>
            </a:r>
            <a:r>
              <a:rPr lang="en-IN" sz="2400" dirty="0"/>
              <a:t>Used for manipulating the data.</a:t>
            </a:r>
          </a:p>
          <a:p>
            <a:pPr marL="457200" indent="-457200"/>
            <a:r>
              <a:rPr lang="en-IN" b="1" dirty="0"/>
              <a:t>Matplotlib 	: </a:t>
            </a:r>
            <a:r>
              <a:rPr lang="en-IN" sz="2400" dirty="0"/>
              <a:t>Used for Data Visualization.</a:t>
            </a:r>
          </a:p>
          <a:p>
            <a:pPr marL="457200" indent="-457200"/>
            <a:r>
              <a:rPr lang="en-IN" b="1" dirty="0"/>
              <a:t>SQL 		: </a:t>
            </a:r>
            <a:r>
              <a:rPr lang="en-IN" sz="2400" dirty="0"/>
              <a:t>Used for authentication and connection with server.</a:t>
            </a:r>
          </a:p>
          <a:p>
            <a:pPr marL="457200" indent="-457200"/>
            <a:r>
              <a:rPr lang="en-IN" b="1" dirty="0"/>
              <a:t>API 		: </a:t>
            </a:r>
            <a:r>
              <a:rPr lang="en-IN" sz="2400" dirty="0"/>
              <a:t>Used to fetch real-time data.</a:t>
            </a:r>
          </a:p>
          <a:p>
            <a:pPr marL="457200" indent="-457200"/>
            <a:r>
              <a:rPr lang="en-IN" b="1" dirty="0"/>
              <a:t>Google Colab 	: </a:t>
            </a:r>
            <a:r>
              <a:rPr lang="en-IN" sz="2400" dirty="0"/>
              <a:t>For Primary development environment.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89D64D-9B07-43E7-C952-E01F27E0CD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07F34-9E3C-0ECC-FCCD-254F078AAB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666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279CC-3333-329D-87EE-AE309BD54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5185A-D8E7-31CB-F4A6-F9E7174840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FC631-AF12-23FF-F61C-CB834F69C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dirty="0"/>
              <a:t>Data Acquisition &amp; Setup: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Fetching the live crypto price data from various web page sources.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Integrating API’s to fetch those data.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Storing the fetched data in the CSV format.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Preparing the environment to develop further process by providing required libraries.</a:t>
            </a:r>
          </a:p>
        </p:txBody>
      </p:sp>
    </p:spTree>
    <p:extLst>
      <p:ext uri="{BB962C8B-B14F-4D97-AF65-F5344CB8AC3E}">
        <p14:creationId xmlns:p14="http://schemas.microsoft.com/office/powerpoint/2010/main" val="529771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511C9-CCFA-E547-B6B7-D2D7A89F4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43880" y="479245"/>
            <a:ext cx="7763256" cy="760877"/>
          </a:xfrm>
        </p:spPr>
        <p:txBody>
          <a:bodyPr/>
          <a:lstStyle/>
          <a:p>
            <a:r>
              <a:rPr lang="en-US" sz="3200" dirty="0"/>
              <a:t>WORKFLOW </a:t>
            </a:r>
            <a:br>
              <a:rPr lang="en-US" sz="3200" dirty="0"/>
            </a:br>
            <a:endParaRPr lang="en-IN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2088F-32B3-92E0-4AF1-4EFADE8061AF}"/>
              </a:ext>
            </a:extLst>
          </p:cNvPr>
          <p:cNvSpPr txBox="1"/>
          <p:nvPr/>
        </p:nvSpPr>
        <p:spPr>
          <a:xfrm>
            <a:off x="905085" y="1490008"/>
            <a:ext cx="4026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Sources: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Finding best datasets from APIs </a:t>
            </a:r>
          </a:p>
          <a:p>
            <a:pPr marL="342900" indent="-3429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Those APIs are                                                                                                                                                                             Kaggle, Coin gecko etc.,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B6DED-14DB-24D2-C625-12562B4D742F}"/>
              </a:ext>
            </a:extLst>
          </p:cNvPr>
          <p:cNvSpPr txBox="1"/>
          <p:nvPr/>
        </p:nvSpPr>
        <p:spPr>
          <a:xfrm>
            <a:off x="6984252" y="1636363"/>
            <a:ext cx="402656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CRYPTOCURRENCIES:</a:t>
            </a:r>
          </a:p>
          <a:p>
            <a:r>
              <a:rPr lang="en-ZA" dirty="0">
                <a:solidFill>
                  <a:schemeClr val="bg1"/>
                </a:solidFill>
              </a:rPr>
              <a:t>	</a:t>
            </a:r>
            <a:r>
              <a:rPr lang="en-ZA" sz="2000" dirty="0">
                <a:solidFill>
                  <a:schemeClr val="bg1"/>
                </a:solidFill>
              </a:rPr>
              <a:t>List of various currencies like Bitcoin, Ethereum, etc..,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87DB4-FF2F-E203-216E-A37057E4CCDC}"/>
              </a:ext>
            </a:extLst>
          </p:cNvPr>
          <p:cNvSpPr txBox="1"/>
          <p:nvPr/>
        </p:nvSpPr>
        <p:spPr>
          <a:xfrm>
            <a:off x="905085" y="3867420"/>
            <a:ext cx="40265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FACTORS:</a:t>
            </a:r>
          </a:p>
          <a:p>
            <a:r>
              <a:rPr lang="en-US" sz="2000" dirty="0">
                <a:solidFill>
                  <a:schemeClr val="bg1"/>
                </a:solidFill>
              </a:rPr>
              <a:t>It involves in extracting based on Volume, Price, Market details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929B86-759F-98DB-391B-28D5B4F62ABE}"/>
              </a:ext>
            </a:extLst>
          </p:cNvPr>
          <p:cNvSpPr txBox="1"/>
          <p:nvPr/>
        </p:nvSpPr>
        <p:spPr>
          <a:xfrm>
            <a:off x="6984252" y="3867420"/>
            <a:ext cx="354530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TYPE OF FILE:</a:t>
            </a:r>
          </a:p>
          <a:p>
            <a:r>
              <a:rPr lang="en-ZA" sz="2000" dirty="0">
                <a:solidFill>
                  <a:schemeClr val="bg1"/>
                </a:solidFill>
              </a:rPr>
              <a:t>Extracted and the whole data in the form of CSV file.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824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5A701-9013-1ED4-BC17-AA71A78EB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BFA5FC3-72A6-1BB1-1650-79BB896A36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2641" t="14935" r="13915" b="6900"/>
          <a:stretch>
            <a:fillRect/>
          </a:stretch>
        </p:blipFill>
        <p:spPr>
          <a:xfrm>
            <a:off x="1818968" y="1077445"/>
            <a:ext cx="8770374" cy="470311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542D3-1A56-6760-BBD8-07FC4C8269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6F497-872E-7C5C-2C74-703EA012C0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253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23403-3989-A827-252C-B7AE383DDD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7920F2-162F-EB97-3019-75009907D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7273491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dirty="0"/>
              <a:t>Data Processing &amp; Calculation:</a:t>
            </a:r>
          </a:p>
          <a:p>
            <a:pPr algn="l"/>
            <a:r>
              <a:rPr lang="en-IN" sz="2400" dirty="0"/>
              <a:t>	</a:t>
            </a:r>
          </a:p>
          <a:p>
            <a:pPr marL="1257300" lvl="2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Calculating daily returns</a:t>
            </a:r>
          </a:p>
          <a:p>
            <a:pPr marL="1257300" lvl="2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Using statistical measures to derive: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Daily &amp; Annualized volatility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Sharpe Ratio</a:t>
            </a:r>
          </a:p>
          <a:p>
            <a:pPr marL="1828800" lvl="3" indent="-457200" algn="l">
              <a:buFont typeface="+mj-lt"/>
              <a:buAutoNum type="arabicPeriod"/>
            </a:pPr>
            <a:r>
              <a:rPr lang="en-IN" sz="2400" dirty="0"/>
              <a:t>Beta coefficient</a:t>
            </a:r>
          </a:p>
        </p:txBody>
      </p:sp>
    </p:spTree>
    <p:extLst>
      <p:ext uri="{BB962C8B-B14F-4D97-AF65-F5344CB8AC3E}">
        <p14:creationId xmlns:p14="http://schemas.microsoft.com/office/powerpoint/2010/main" val="1065053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7EA31-98A4-8A29-222F-2196E6679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41A153-E52D-B3C3-C195-324A6D06F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868" y="1117653"/>
            <a:ext cx="8316229" cy="2664433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400" b="1" dirty="0"/>
              <a:t>DATA CLEANING &amp; PROCESSING:</a:t>
            </a:r>
          </a:p>
          <a:p>
            <a:pPr algn="l"/>
            <a:endParaRPr lang="en-US" sz="24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Missing values must be identified and handled appropriately by using the functions like </a:t>
            </a:r>
            <a:r>
              <a:rPr lang="en-IN" sz="2200" dirty="0" err="1"/>
              <a:t>fillna</a:t>
            </a:r>
            <a:r>
              <a:rPr lang="en-IN" sz="2200" dirty="0"/>
              <a:t>( ), </a:t>
            </a:r>
            <a:r>
              <a:rPr lang="en-IN" sz="2200" dirty="0" err="1"/>
              <a:t>dropna</a:t>
            </a:r>
            <a:r>
              <a:rPr lang="en-IN" sz="2200" dirty="0"/>
              <a:t>( ) with the help of aggregate functions.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It will be very helpful to provide best analysis.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7761F-FAAE-5E50-1E08-2BBBE9565694}"/>
              </a:ext>
            </a:extLst>
          </p:cNvPr>
          <p:cNvSpPr txBox="1"/>
          <p:nvPr/>
        </p:nvSpPr>
        <p:spPr>
          <a:xfrm>
            <a:off x="4543604" y="4090736"/>
            <a:ext cx="7097508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DAILY RETURNS CALCULATION: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chemeClr val="bg1"/>
                </a:solidFill>
              </a:rPr>
              <a:t>The percentage of change of price from one day to the next day is known as the daily returns.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200" dirty="0">
                <a:solidFill>
                  <a:schemeClr val="bg1"/>
                </a:solidFill>
              </a:rPr>
              <a:t>It is very helpful to assess the daily returns of the assets.</a:t>
            </a:r>
          </a:p>
        </p:txBody>
      </p:sp>
    </p:spTree>
    <p:extLst>
      <p:ext uri="{BB962C8B-B14F-4D97-AF65-F5344CB8AC3E}">
        <p14:creationId xmlns:p14="http://schemas.microsoft.com/office/powerpoint/2010/main" val="4070215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80A3-6B61-9149-DB77-8A6DF472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72130-F89E-251E-A54F-B3353DC2B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6789" y="128337"/>
            <a:ext cx="7018422" cy="304801"/>
          </a:xfrm>
        </p:spPr>
        <p:txBody>
          <a:bodyPr/>
          <a:lstStyle/>
          <a:p>
            <a:r>
              <a:rPr lang="en-US" dirty="0"/>
              <a:t>Statistical measures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505EF4-A250-8AC9-C358-7E7B820CCF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868" y="1117653"/>
            <a:ext cx="8316229" cy="2664433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US" sz="2400" b="1" dirty="0"/>
              <a:t>Volatility:</a:t>
            </a:r>
          </a:p>
          <a:p>
            <a:pPr algn="l"/>
            <a:endParaRPr lang="en-US" sz="2400" b="1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/>
              <a:t>Volatility measures how much an asset’s price fluctuates over time.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We can calculate volatility using standard deviation of daily returns of the assets.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38D0E-9EE6-E85E-07B2-0CA713BED81E}"/>
              </a:ext>
            </a:extLst>
          </p:cNvPr>
          <p:cNvSpPr txBox="1"/>
          <p:nvPr/>
        </p:nvSpPr>
        <p:spPr>
          <a:xfrm>
            <a:off x="4543604" y="4090736"/>
            <a:ext cx="7097508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Sharpe Ratio: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Used to measure the returns earned per unit of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It helps evaluate investment performance.</a:t>
            </a:r>
            <a:endParaRPr lang="en-IN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4309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0F71-A9D3-1126-5C5C-739E4793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0DD62-8D8C-F14E-3B6A-2C99426CA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2540-A2F4-8213-82A2-CA3BD9705D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6650B-7267-53AA-FF33-E6690D3F60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5461D3E4-A78E-6633-CBFA-1A3C35D4BD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1895" r="776" b="14668"/>
          <a:stretch>
            <a:fillRect/>
          </a:stretch>
        </p:blipFill>
        <p:spPr>
          <a:xfrm>
            <a:off x="1386404" y="1396180"/>
            <a:ext cx="9727769" cy="3824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5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0BE5-C5A2-C03C-25F4-C90FD5EBB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2EEB7-9069-5909-8DAE-4AC6D0020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DD36C-1DD9-8CE4-2CA0-20705C901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Data Visualization: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Building interactive dashboards using </a:t>
            </a:r>
            <a:r>
              <a:rPr lang="en-IN" sz="2400" dirty="0" err="1"/>
              <a:t>streamlit</a:t>
            </a:r>
            <a:r>
              <a:rPr lang="en-IN" sz="2400" dirty="0"/>
              <a:t> &amp; matplot library.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Displaying various time-series graphs for better analysis.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Developing the interactive and responsive dashboard helps to enable date range selection &amp; asset comparison.</a:t>
            </a:r>
          </a:p>
        </p:txBody>
      </p:sp>
    </p:spTree>
    <p:extLst>
      <p:ext uri="{BB962C8B-B14F-4D97-AF65-F5344CB8AC3E}">
        <p14:creationId xmlns:p14="http://schemas.microsoft.com/office/powerpoint/2010/main" val="12497348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C9382-CB11-953E-CE83-33B4E456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71B8D-4417-444A-20F3-4AA1CB74AD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4526" y="320842"/>
            <a:ext cx="7763256" cy="744835"/>
          </a:xfrm>
        </p:spPr>
        <p:txBody>
          <a:bodyPr/>
          <a:lstStyle/>
          <a:p>
            <a:r>
              <a:rPr lang="en-IN" dirty="0"/>
              <a:t>Visuals we used!!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940CDD-EE13-73E4-8536-50C25740A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4248" y="1394221"/>
            <a:ext cx="8685197" cy="2387706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Line Chart:</a:t>
            </a:r>
          </a:p>
          <a:p>
            <a:pPr algn="l"/>
            <a:endParaRPr lang="en-IN" sz="24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2200" dirty="0"/>
              <a:t>These are most widely used visual in data visualization because they clearly show trends, patterns, and changes over time.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US" sz="2200" dirty="0"/>
              <a:t>Here, in our project we used to compare volatility and trend of the market over time.</a:t>
            </a:r>
            <a:endParaRPr lang="en-IN"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95F353-650E-587E-DB30-54D174A75C28}"/>
              </a:ext>
            </a:extLst>
          </p:cNvPr>
          <p:cNvSpPr txBox="1"/>
          <p:nvPr/>
        </p:nvSpPr>
        <p:spPr>
          <a:xfrm>
            <a:off x="3915397" y="3949812"/>
            <a:ext cx="8005011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Scatter Plot Chart: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These are mainly used to plot the differences between two different numerical values.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These are ideal for spotting trends, clusters, and outliers.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6360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30E25-8365-2C00-5807-C1F6F25C0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F079-2086-80A3-232D-3491A00BBD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6452" y="522491"/>
            <a:ext cx="8799095" cy="696709"/>
          </a:xfrm>
        </p:spPr>
        <p:txBody>
          <a:bodyPr/>
          <a:lstStyle/>
          <a:p>
            <a:r>
              <a:rPr lang="en-US" dirty="0"/>
              <a:t>Dashboard development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28678-E078-CEEE-3DB2-4F4C2EB4D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6680" y="18915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STREAMLIT: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Streamlit is an open source python framework used to build more interactive dashboards.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By using this framework there is no need to learn about the front-end technologies like HTML, CSS, JS.</a:t>
            </a:r>
          </a:p>
        </p:txBody>
      </p:sp>
    </p:spTree>
    <p:extLst>
      <p:ext uri="{BB962C8B-B14F-4D97-AF65-F5344CB8AC3E}">
        <p14:creationId xmlns:p14="http://schemas.microsoft.com/office/powerpoint/2010/main" val="899863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F8857-4D7E-36DC-43FF-89B03D0E5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C594E-DD26-9649-4C72-5ADA80A50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AD83B-9C30-4518-2E72-009E7F4D9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72219-68B4-EADE-F5A9-6DD5DDE9183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0CC4156-005F-A887-3F70-67C1E8B73D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82" t="11618" r="1512" b="2199"/>
          <a:stretch>
            <a:fillRect/>
          </a:stretch>
        </p:blipFill>
        <p:spPr>
          <a:xfrm>
            <a:off x="1474837" y="1138083"/>
            <a:ext cx="9767703" cy="45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0342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D2002-864F-D4F2-9018-7CC323FCA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FBEE6-E24F-DDA1-4D13-75063A00FB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6189" y="297902"/>
            <a:ext cx="7763256" cy="809003"/>
          </a:xfrm>
        </p:spPr>
        <p:txBody>
          <a:bodyPr/>
          <a:lstStyle/>
          <a:p>
            <a:r>
              <a:rPr lang="en-IN" dirty="0"/>
              <a:t>MILESTONE-4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BCA9A6-F05F-698F-599C-1304688F4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2782" y="1586725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Risk Classification &amp; Reporting:</a:t>
            </a:r>
          </a:p>
          <a:p>
            <a:pPr algn="l"/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Focuses on classifying risk levels for crypto currency(Low, Medium, High).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Generating the final summarised reports in the form of PDF formats.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dirty="0"/>
              <a:t>Helps to analyse and to let the users know the accurate levels of the risks.</a:t>
            </a:r>
          </a:p>
        </p:txBody>
      </p:sp>
    </p:spTree>
    <p:extLst>
      <p:ext uri="{BB962C8B-B14F-4D97-AF65-F5344CB8AC3E}">
        <p14:creationId xmlns:p14="http://schemas.microsoft.com/office/powerpoint/2010/main" val="588274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CDEB-F71F-7DA5-9450-55DE18BD2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1B1856E-076E-745A-0A7B-D769365EED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6992" y="608156"/>
            <a:ext cx="5765533" cy="595002"/>
          </a:xfrm>
        </p:spPr>
        <p:txBody>
          <a:bodyPr/>
          <a:lstStyle/>
          <a:p>
            <a:pPr algn="ctr"/>
            <a:r>
              <a:rPr lang="en-US" sz="3500" b="1" dirty="0"/>
              <a:t>Report Generation</a:t>
            </a:r>
            <a:endParaRPr lang="en-IN" sz="35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BCD15A-E51E-37FA-3EE7-F70B3D3FB18E}"/>
              </a:ext>
            </a:extLst>
          </p:cNvPr>
          <p:cNvSpPr txBox="1"/>
          <p:nvPr/>
        </p:nvSpPr>
        <p:spPr>
          <a:xfrm>
            <a:off x="1106905" y="2065274"/>
            <a:ext cx="684997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400" b="1" dirty="0">
                <a:solidFill>
                  <a:schemeClr val="bg1"/>
                </a:solidFill>
              </a:rPr>
              <a:t>Generating summary reports:</a:t>
            </a:r>
          </a:p>
          <a:p>
            <a:endParaRPr lang="en-US" sz="24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Creating final summarized report about the crypto market in the form of CSV, PNG or PDF formats.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Here, we used CSV format which helps for better understanding.</a:t>
            </a:r>
            <a:endParaRPr lang="en-IN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64824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B545-CFEB-92ED-3E8D-3D266FFDA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D451F-6566-478E-EC46-DB0BD2831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1810" y="321646"/>
            <a:ext cx="7763256" cy="809003"/>
          </a:xfrm>
        </p:spPr>
        <p:txBody>
          <a:bodyPr/>
          <a:lstStyle/>
          <a:p>
            <a:r>
              <a:rPr lang="en-US" dirty="0"/>
              <a:t>Workflow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2B8FFC-65A2-511B-1D9B-1C654C7240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8403" y="1562662"/>
            <a:ext cx="7995385" cy="3732676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Classifying the risks: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en-IN" sz="24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Classification of the risk levels based on their volatility range values over time (Low, Medium, High).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Highlighting those high-risk assets in the dashboard.</a:t>
            </a:r>
          </a:p>
          <a:p>
            <a:pPr lvl="1" algn="l"/>
            <a:endParaRPr lang="en-IN" sz="2200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400" b="1" dirty="0"/>
              <a:t>Using Quantiles thresholds: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Less Risk (TOP 33% Volatility)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Medium Risk (In B/w Values of Top &amp; Less Values)</a:t>
            </a:r>
          </a:p>
          <a:p>
            <a:pPr marL="1371600" lvl="2" indent="-457200" algn="l">
              <a:buFont typeface="+mj-lt"/>
              <a:buAutoNum type="arabicPeriod"/>
            </a:pPr>
            <a:r>
              <a:rPr lang="en-IN" sz="2200" dirty="0"/>
              <a:t>High Risk (Least 33% Volatility)</a:t>
            </a:r>
          </a:p>
        </p:txBody>
      </p:sp>
    </p:spTree>
    <p:extLst>
      <p:ext uri="{BB962C8B-B14F-4D97-AF65-F5344CB8AC3E}">
        <p14:creationId xmlns:p14="http://schemas.microsoft.com/office/powerpoint/2010/main" val="1615764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826D5-ECF6-2352-3720-8FC34B920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5FF2F-2082-13C9-F126-9BD7E6EB3B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6432" y="474883"/>
            <a:ext cx="7763256" cy="809003"/>
          </a:xfrm>
        </p:spPr>
        <p:txBody>
          <a:bodyPr/>
          <a:lstStyle/>
          <a:p>
            <a:r>
              <a:rPr lang="en-US" dirty="0"/>
              <a:t>Visual used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7E4953-76D9-BE33-542E-F4BB76C0CF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4491" y="1966636"/>
            <a:ext cx="8685197" cy="3514664"/>
          </a:xfrm>
        </p:spPr>
        <p:txBody>
          <a:bodyPr/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en-IN" sz="2400" b="1" dirty="0"/>
              <a:t>Donut Chart:-</a:t>
            </a:r>
          </a:p>
          <a:p>
            <a:pPr algn="l"/>
            <a:endParaRPr lang="en-IN" sz="2400" b="1" dirty="0"/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Here, in our project we used it to represent the classification of the risks of the crypto coins.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sz="2200" dirty="0"/>
              <a:t>It helps to classify the portion levels of the data contribution.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77D31D-2149-930F-C676-D3D3892439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033" t="47913" r="14032" b="22868"/>
          <a:stretch>
            <a:fillRect/>
          </a:stretch>
        </p:blipFill>
        <p:spPr>
          <a:xfrm>
            <a:off x="9094839" y="3795251"/>
            <a:ext cx="2724694" cy="249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5521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37B96-2306-6540-DBB2-B2C477AC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6C8A-3048-72E3-8522-527097164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02" y="187452"/>
            <a:ext cx="4567182" cy="651541"/>
          </a:xfrm>
        </p:spPr>
        <p:txBody>
          <a:bodyPr/>
          <a:lstStyle/>
          <a:p>
            <a:pPr algn="l"/>
            <a:r>
              <a:rPr lang="en-US" sz="3000" dirty="0"/>
              <a:t>Output:</a:t>
            </a:r>
            <a:endParaRPr lang="en-IN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C0872-7EE4-B7D4-04BB-A9080FBFB03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EFCF74-0768-58CA-53FF-1634094344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77BFE02-A5F5-C33B-62B5-E1D093E1A8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82" t="11065" r="1217" b="2198"/>
          <a:stretch>
            <a:fillRect/>
          </a:stretch>
        </p:blipFill>
        <p:spPr>
          <a:xfrm>
            <a:off x="1317522" y="1197646"/>
            <a:ext cx="9910916" cy="466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2812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010CD-5039-8307-7348-F6A994766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36F7-EC2F-5FC1-EC3C-A019C31597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5089" y="2389238"/>
            <a:ext cx="7741822" cy="759935"/>
          </a:xfrm>
        </p:spPr>
        <p:txBody>
          <a:bodyPr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  <a:ea typeface="Verdana" panose="020B0604030504040204" pitchFamily="34" charset="0"/>
                <a:cs typeface="Verdana" panose="020B0604030504040204" pitchFamily="34" charset="0"/>
              </a:rPr>
              <a:t>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5EBFD2-4686-9CD6-7227-F57361BE87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8125" y="3528922"/>
            <a:ext cx="8624807" cy="2306599"/>
          </a:xfrm>
        </p:spPr>
        <p:txBody>
          <a:bodyPr/>
          <a:lstStyle/>
          <a:p>
            <a:r>
              <a:rPr lang="en-US" sz="1600" dirty="0"/>
              <a:t>This project analyzes cryptocurrency risk by combining </a:t>
            </a:r>
            <a:r>
              <a:rPr lang="en-US" sz="1600" b="1" dirty="0"/>
              <a:t>historical data from Kaggle</a:t>
            </a:r>
            <a:r>
              <a:rPr lang="en-US" sz="1600" dirty="0"/>
              <a:t> and </a:t>
            </a:r>
            <a:r>
              <a:rPr lang="en-US" sz="1600" b="1" dirty="0"/>
              <a:t>live market data </a:t>
            </a:r>
            <a:r>
              <a:rPr lang="en-US" sz="1600" dirty="0"/>
              <a:t>from</a:t>
            </a:r>
            <a:r>
              <a:rPr lang="en-US" sz="1600" b="1" dirty="0"/>
              <a:t> </a:t>
            </a:r>
            <a:r>
              <a:rPr lang="en-US" sz="1600" b="1" dirty="0" err="1"/>
              <a:t>CoinGecko</a:t>
            </a:r>
            <a:r>
              <a:rPr lang="en-US" sz="1600" dirty="0"/>
              <a:t>. After preprocessing and cleaning the data, key risk metrics such as </a:t>
            </a:r>
            <a:r>
              <a:rPr lang="en-US" sz="1600" b="1" dirty="0"/>
              <a:t>volatility, Sharpe ratio, beta coefficient, and IQR</a:t>
            </a:r>
            <a:r>
              <a:rPr lang="en-US" sz="1600" dirty="0"/>
              <a:t> were calculated to evaluate market behavior.</a:t>
            </a:r>
          </a:p>
          <a:p>
            <a:r>
              <a:rPr lang="en-US" sz="1600" dirty="0"/>
              <a:t>The results were visualized using interactive charts, and cryptocurrencies were </a:t>
            </a:r>
            <a:r>
              <a:rPr lang="en-US" sz="1600" b="1" dirty="0"/>
              <a:t>classified into high, medium, and low risk categories</a:t>
            </a:r>
            <a:r>
              <a:rPr lang="en-US" sz="1600" dirty="0"/>
              <a:t>. A user-friendly interface was developed that allows users to </a:t>
            </a:r>
            <a:r>
              <a:rPr lang="en-US" sz="1600" b="1" dirty="0"/>
              <a:t>download the risk metrics in CSV format</a:t>
            </a:r>
            <a:r>
              <a:rPr lang="en-US" sz="1600" dirty="0"/>
              <a:t>, making the system practical and accessible for further analysis and informed decision-making.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838872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THANK YOU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19D01-29BE-BE76-41C5-9D58AD811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Atturu Jaganmohanreddy​</a:t>
            </a:r>
          </a:p>
          <a:p>
            <a:pPr algn="l"/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jaganmohanreddy1223@gmail.com </a:t>
            </a:r>
            <a:endParaRPr lang="en-US" dirty="0">
              <a:latin typeface="Segoe UI Light" panose="020B0502040204020203" pitchFamily="34" charset="0"/>
              <a:ea typeface="Calibri"/>
              <a:cs typeface="Segoe UI Light" panose="020B050204020402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515</TotalTime>
  <Words>1110</Words>
  <Application>Microsoft Office PowerPoint</Application>
  <PresentationFormat>Widescreen</PresentationFormat>
  <Paragraphs>174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Courier New</vt:lpstr>
      <vt:lpstr>Segoe UI Light</vt:lpstr>
      <vt:lpstr>Tw Cen MT</vt:lpstr>
      <vt:lpstr>Wingdings</vt:lpstr>
      <vt:lpstr>Office Theme</vt:lpstr>
      <vt:lpstr>CRYPTO VOLATILITY &amp; risk Analyzer</vt:lpstr>
      <vt:lpstr>CONTENTS</vt:lpstr>
      <vt:lpstr>PROJECT STATEMENT</vt:lpstr>
      <vt:lpstr>introduction</vt:lpstr>
      <vt:lpstr>WORK FLOW</vt:lpstr>
      <vt:lpstr>PowerPoint Presentation</vt:lpstr>
      <vt:lpstr>MODULEs TO BE IMPLEMENTED</vt:lpstr>
      <vt:lpstr>Tools used!!!</vt:lpstr>
      <vt:lpstr>MILESTONE-1</vt:lpstr>
      <vt:lpstr>WORKFLOW  </vt:lpstr>
      <vt:lpstr>Output:</vt:lpstr>
      <vt:lpstr>MILESTONE-2</vt:lpstr>
      <vt:lpstr>PowerPoint Presentation</vt:lpstr>
      <vt:lpstr>Statistical measures</vt:lpstr>
      <vt:lpstr>Output:</vt:lpstr>
      <vt:lpstr>MILESTONE-3</vt:lpstr>
      <vt:lpstr>Visuals we used!!</vt:lpstr>
      <vt:lpstr>Dashboard development</vt:lpstr>
      <vt:lpstr>Output:</vt:lpstr>
      <vt:lpstr>MILESTONE-4</vt:lpstr>
      <vt:lpstr>PowerPoint Presentation</vt:lpstr>
      <vt:lpstr>Workflow</vt:lpstr>
      <vt:lpstr>Visual used</vt:lpstr>
      <vt:lpstr>Output:</vt:lpstr>
      <vt:lpstr>SUMMARY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Atturu Jaganmohanreddy</dc:creator>
  <cp:lastModifiedBy>Atturu Jaganmohanreddy</cp:lastModifiedBy>
  <cp:revision>1</cp:revision>
  <dcterms:created xsi:type="dcterms:W3CDTF">2025-12-30T15:14:40Z</dcterms:created>
  <dcterms:modified xsi:type="dcterms:W3CDTF">2026-02-02T14:31:15Z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